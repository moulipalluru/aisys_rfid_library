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91440" cy="2377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694944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AISYS RFID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703320"/>
            <a:ext cx="69494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48CAE4"/>
                </a:solidFill>
                <a:latin typeface="Calibri"/>
              </a:rPr>
              <a:t>Technical Evaluation &amp; 7-Layer Modular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6949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D9DBF"/>
                </a:solidFill>
                <a:latin typeface="Calibri"/>
              </a:rPr>
              <a:t>Presenter:  </a:t>
            </a:r>
            <a:r>
              <a:rPr sz="1800" b="1">
                <a:solidFill>
                  <a:srgbClr val="FFFFFF"/>
                </a:solidFill>
                <a:latin typeface="Calibri"/>
              </a:rPr>
              <a:t>Mouli Palluru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440680"/>
            <a:ext cx="6949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D9DBF"/>
                </a:solidFill>
                <a:latin typeface="Calibri"/>
              </a:rPr>
              <a:t>Repository:  </a:t>
            </a:r>
            <a:r>
              <a:rPr sz="1400" b="0">
                <a:solidFill>
                  <a:srgbClr val="FFFFFF"/>
                </a:solidFill>
                <a:latin typeface="Calibri"/>
              </a:rPr>
              <a:t>github.com/MouliPalluru/aisys_rfid_library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06440"/>
            <a:ext cx="6949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D9DBF"/>
                </a:solidFill>
                <a:latin typeface="Calibri"/>
              </a:rPr>
              <a:t>Target:  </a:t>
            </a:r>
            <a:r>
              <a:rPr sz="1400" b="0">
                <a:solidFill>
                  <a:srgbClr val="FFFFFF"/>
                </a:solidFill>
                <a:latin typeface="Calibri"/>
              </a:rPr>
              <a:t>support@aisys.co.in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103120"/>
            <a:ext cx="3337560" cy="27432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331720"/>
            <a:ext cx="333756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6000" b="1">
                <a:solidFill>
                  <a:srgbClr val="00B4D8"/>
                </a:solidFill>
                <a:latin typeface="Calibri"/>
              </a:rPr>
              <a:t>49 / 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611880"/>
            <a:ext cx="29718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Acceptance Tests Passed</a:t>
            </a:r>
          </a:p>
          <a:p>
            <a:pPr algn="ctr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(100% Pass Rate)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3035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Executive Assessment &amp; Core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AISYS RFID Library Management System  |  Technical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48006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91639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8CAE4"/>
                </a:solidFill>
                <a:latin typeface="Calibri"/>
              </a:rPr>
              <a:t>Demonstrated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2240280"/>
            <a:ext cx="2331720" cy="109728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313432"/>
            <a:ext cx="233172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00B4D8"/>
                </a:solidFill>
                <a:latin typeface="Calibri"/>
              </a:rPr>
              <a:t>49 /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98648"/>
            <a:ext cx="2240279" cy="41696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Pytest scenarios pass (~2.20 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240280"/>
            <a:ext cx="2331720" cy="109728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313432"/>
            <a:ext cx="233172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00B4D8"/>
                </a:solidFill>
                <a:latin typeface="Calibri"/>
              </a:rPr>
              <a:t>20,000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98648"/>
            <a:ext cx="2240279" cy="41696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records imported in &lt; 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566160"/>
            <a:ext cx="484632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47650" indent="-247650">
              <a:spcAft>
                <a:spcPts val="900"/>
              </a:spcAft>
              <a:buClr>
                <a:srgbClr val="48CAE4"/>
              </a:buClr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49 / 49 Pytest scenarios pass (~2.20 s execution time).</a:t>
            </a:r>
          </a:p>
          <a:p>
            <a:pPr algn="l" marL="247650" indent="-247650">
              <a:spcAft>
                <a:spcPts val="900"/>
              </a:spcAft>
              <a:buClr>
                <a:srgbClr val="48CAE4"/>
              </a:buClr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20,000 records imported in under 5 seconds (CSV &amp; XLSX supported).</a:t>
            </a:r>
          </a:p>
          <a:p>
            <a:pPr algn="l" marL="247650" indent="-247650">
              <a:spcAft>
                <a:spcPts val="900"/>
              </a:spcAft>
              <a:buClr>
                <a:srgbClr val="48CAE4"/>
              </a:buClr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Modular FastAPI backend covering circulation, NCIP 2.0 / SIP2 adapters, RFID tag association, gate alarms, handheld audit and RBAC.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508760"/>
            <a:ext cx="5394960" cy="48006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691639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8CAE4"/>
                </a:solidFill>
                <a:latin typeface="Calibri"/>
              </a:rPr>
              <a:t>SOP Position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9672" y="2240280"/>
            <a:ext cx="1524000" cy="109728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313432"/>
            <a:ext cx="152400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00B4D8"/>
                </a:solidFill>
                <a:latin typeface="Calibri"/>
              </a:rPr>
              <a:t>7 / 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898648"/>
            <a:ext cx="1432560" cy="41696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fully met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0832" y="2240280"/>
            <a:ext cx="1524000" cy="109728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0832" y="2313432"/>
            <a:ext cx="152400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48CAE4"/>
                </a:solidFill>
                <a:latin typeface="Calibri"/>
              </a:rP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6552" y="2898648"/>
            <a:ext cx="1432560" cy="41696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partially met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41992" y="2240280"/>
            <a:ext cx="1524000" cy="109728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1992" y="2313432"/>
            <a:ext cx="152400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7712" y="2898648"/>
            <a:ext cx="1432560" cy="41696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queued for backlog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52044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8CAE4"/>
                </a:solidFill>
                <a:latin typeface="Calibri"/>
              </a:rPr>
              <a:t>Deliverables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3886200"/>
            <a:ext cx="484632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8CAE4"/>
                </a:solidFill>
                <a:latin typeface="Calibri"/>
              </a:rPr>
              <a:t>D1  </a:t>
            </a:r>
            <a:r>
              <a:rPr sz="1400" b="0">
                <a:solidFill>
                  <a:srgbClr val="FFFFFF"/>
                </a:solidFill>
                <a:latin typeface="Calibri"/>
              </a:rPr>
              <a:t>Traceability matrix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48CAE4"/>
                </a:solidFill>
                <a:latin typeface="Calibri"/>
              </a:rPr>
              <a:t>D2 / D3  </a:t>
            </a:r>
            <a:r>
              <a:rPr sz="1400" b="0">
                <a:solidFill>
                  <a:srgbClr val="FFFFFF"/>
                </a:solidFill>
                <a:latin typeface="Calibri"/>
              </a:rPr>
              <a:t>Architecture specification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48CAE4"/>
                </a:solidFill>
                <a:latin typeface="Calibri"/>
              </a:rPr>
              <a:t>D4  </a:t>
            </a:r>
            <a:r>
              <a:rPr sz="1400" b="0">
                <a:solidFill>
                  <a:srgbClr val="FFFFFF"/>
                </a:solidFill>
                <a:latin typeface="Calibri"/>
              </a:rPr>
              <a:t>SBOM and licence inventory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48CAE4"/>
                </a:solidFill>
                <a:latin typeface="Calibri"/>
              </a:rPr>
              <a:t>D5  </a:t>
            </a:r>
            <a:r>
              <a:rPr sz="1400" b="0">
                <a:solidFill>
                  <a:srgbClr val="FFFFFF"/>
                </a:solidFill>
                <a:latin typeface="Calibri"/>
              </a:rPr>
              <a:t>Migration tool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48CAE4"/>
                </a:solidFill>
                <a:latin typeface="Calibri"/>
              </a:rPr>
              <a:t>D6  </a:t>
            </a:r>
            <a:r>
              <a:rPr sz="1400" b="0">
                <a:solidFill>
                  <a:srgbClr val="FFFFFF"/>
                </a:solidFill>
                <a:latin typeface="Calibri"/>
              </a:rPr>
              <a:t>Acceptance tests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48CAE4"/>
                </a:solidFill>
                <a:latin typeface="Calibri"/>
              </a:rPr>
              <a:t>D7 / D8  </a:t>
            </a:r>
            <a:r>
              <a:rPr sz="1400" b="0">
                <a:solidFill>
                  <a:srgbClr val="FFFFFF"/>
                </a:solidFill>
                <a:latin typeface="Calibri"/>
              </a:rPr>
              <a:t>Operations runbook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48CAE4"/>
                </a:solidFill>
                <a:latin typeface="Calibri"/>
              </a:rPr>
              <a:t>D9  </a:t>
            </a:r>
            <a:r>
              <a:rPr sz="1400" b="0">
                <a:solidFill>
                  <a:srgbClr val="FFFFFF"/>
                </a:solidFill>
                <a:latin typeface="Calibri"/>
              </a:rPr>
              <a:t>Presentation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7498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7-Layer Modular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8CAE4"/>
                </a:solidFill>
                <a:latin typeface="Calibri"/>
              </a:rPr>
              <a:t>Modular Architecture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AISYS RFID Library Management System  |  Technical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6400800" cy="48006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39"/>
            <a:ext cx="585216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47650" indent="-247650">
              <a:spcAft>
                <a:spcPts val="1100"/>
              </a:spcAft>
              <a:buClr>
                <a:srgbClr val="48CAE4"/>
              </a:buClr>
              <a:buChar char="•"/>
            </a:pPr>
            <a:r>
              <a:rPr sz="1500" b="1">
                <a:solidFill>
                  <a:srgbClr val="48CAE4"/>
                </a:solidFill>
                <a:latin typeface="Calibri"/>
              </a:rPr>
              <a:t>Layer 1 · FastAPI / RBAC checks — </a:t>
            </a:r>
            <a:r>
              <a:rPr sz="1500" b="0">
                <a:solidFill>
                  <a:srgbClr val="FFFFFF"/>
                </a:solidFill>
                <a:latin typeface="Calibri"/>
              </a:rPr>
              <a:t>REST endpoints, validated requests, role checks</a:t>
            </a:r>
          </a:p>
          <a:p>
            <a:pPr algn="l" marL="247650" indent="-247650">
              <a:spcAft>
                <a:spcPts val="1100"/>
              </a:spcAft>
              <a:buClr>
                <a:srgbClr val="48CAE4"/>
              </a:buClr>
              <a:buChar char="•"/>
            </a:pPr>
            <a:r>
              <a:rPr sz="1500" b="1">
                <a:solidFill>
                  <a:srgbClr val="48CAE4"/>
                </a:solidFill>
                <a:latin typeface="Calibri"/>
              </a:rPr>
              <a:t>Layer 2 · NCIP 2.0 / SIP2 — </a:t>
            </a:r>
            <a:r>
              <a:rPr sz="1500" b="0">
                <a:solidFill>
                  <a:srgbClr val="FFFFFF"/>
                </a:solidFill>
                <a:latin typeface="Calibri"/>
              </a:rPr>
              <a:t>mock protocol adapters over one shared rules engine</a:t>
            </a:r>
          </a:p>
          <a:p>
            <a:pPr algn="l" marL="247650" indent="-247650">
              <a:spcAft>
                <a:spcPts val="1100"/>
              </a:spcAft>
              <a:buClr>
                <a:srgbClr val="48CAE4"/>
              </a:buClr>
              <a:buChar char="•"/>
            </a:pPr>
            <a:r>
              <a:rPr sz="1500" b="1">
                <a:solidFill>
                  <a:srgbClr val="48CAE4"/>
                </a:solidFill>
                <a:latin typeface="Calibri"/>
              </a:rPr>
              <a:t>Layer 3 · Circulation Rules — </a:t>
            </a:r>
            <a:r>
              <a:rPr sz="1500" b="0">
                <a:solidFill>
                  <a:srgbClr val="FFFFFF"/>
                </a:solidFill>
                <a:latin typeface="Calibri"/>
              </a:rPr>
              <a:t>5-item cap, ₹500 fine limit, member blocks, reference protection</a:t>
            </a:r>
          </a:p>
          <a:p>
            <a:pPr algn="l" marL="247650" indent="-247650">
              <a:spcAft>
                <a:spcPts val="1100"/>
              </a:spcAft>
              <a:buClr>
                <a:srgbClr val="48CAE4"/>
              </a:buClr>
              <a:buChar char="•"/>
            </a:pPr>
            <a:r>
              <a:rPr sz="1500" b="1">
                <a:solidFill>
                  <a:srgbClr val="48CAE4"/>
                </a:solidFill>
                <a:latin typeface="Calibri"/>
              </a:rPr>
              <a:t>Layer 4 · RFID Middleware &amp; Gate Security — </a:t>
            </a:r>
            <a:r>
              <a:rPr sz="1500" b="0">
                <a:solidFill>
                  <a:srgbClr val="FFFFFF"/>
                </a:solidFill>
                <a:latin typeface="Calibri"/>
              </a:rPr>
              <a:t>tag association, security-bit check, alarms, mock CCTV</a:t>
            </a:r>
          </a:p>
          <a:p>
            <a:pPr algn="l" marL="247650" indent="-247650">
              <a:spcAft>
                <a:spcPts val="1100"/>
              </a:spcAft>
              <a:buClr>
                <a:srgbClr val="48CAE4"/>
              </a:buClr>
              <a:buChar char="•"/>
            </a:pPr>
            <a:r>
              <a:rPr sz="1500" b="1">
                <a:solidFill>
                  <a:srgbClr val="48CAE4"/>
                </a:solidFill>
                <a:latin typeface="Calibri"/>
              </a:rPr>
              <a:t>Layer 5 · Handheld Audit — </a:t>
            </a:r>
            <a:r>
              <a:rPr sz="1500" b="0">
                <a:solidFill>
                  <a:srgbClr val="FFFFFF"/>
                </a:solidFill>
                <a:latin typeface="Calibri"/>
              </a:rPr>
              <a:t>shelf scans flag missing, misplaced and unknown items</a:t>
            </a:r>
          </a:p>
          <a:p>
            <a:pPr algn="l" marL="247650" indent="-247650">
              <a:spcAft>
                <a:spcPts val="1100"/>
              </a:spcAft>
              <a:buClr>
                <a:srgbClr val="48CAE4"/>
              </a:buClr>
              <a:buChar char="•"/>
            </a:pPr>
            <a:r>
              <a:rPr sz="1500" b="1">
                <a:solidFill>
                  <a:srgbClr val="48CAE4"/>
                </a:solidFill>
                <a:latin typeface="Calibri"/>
              </a:rPr>
              <a:t>Layer 6 · Notifications — </a:t>
            </a:r>
            <a:r>
              <a:rPr sz="1500" b="0">
                <a:solidFill>
                  <a:srgbClr val="FFFFFF"/>
                </a:solidFill>
                <a:latin typeface="Calibri"/>
              </a:rPr>
              <a:t>queued security e-mails with background delivery</a:t>
            </a:r>
          </a:p>
          <a:p>
            <a:pPr algn="l" marL="247650" indent="-247650">
              <a:spcAft>
                <a:spcPts val="1100"/>
              </a:spcAft>
              <a:buClr>
                <a:srgbClr val="48CAE4"/>
              </a:buClr>
              <a:buChar char="•"/>
            </a:pPr>
            <a:r>
              <a:rPr sz="1500" b="1">
                <a:solidFill>
                  <a:srgbClr val="48CAE4"/>
                </a:solidFill>
                <a:latin typeface="Calibri"/>
              </a:rPr>
              <a:t>Layer 7 · Persistence Repository — </a:t>
            </a:r>
            <a:r>
              <a:rPr sz="1500" b="0">
                <a:solidFill>
                  <a:srgbClr val="FFFFFF"/>
                </a:solidFill>
                <a:latin typeface="Calibri"/>
              </a:rPr>
              <a:t>SQLite schema, staging table and backup for migrated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508760"/>
            <a:ext cx="4462272" cy="48006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9050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645919"/>
            <a:ext cx="391363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8CAE4"/>
                </a:solidFill>
                <a:latin typeface="Calibri"/>
              </a:rPr>
              <a:t>Layer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148839"/>
            <a:ext cx="3913632" cy="493776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 w="15875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2148839"/>
            <a:ext cx="3639312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  API &amp; RBAC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734056"/>
            <a:ext cx="3913632" cy="493776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 w="15875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734056"/>
            <a:ext cx="3639312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  Protocol Interoperability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319272"/>
            <a:ext cx="3913632" cy="493776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 w="15875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3319272"/>
            <a:ext cx="3639312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  Circulation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904487"/>
            <a:ext cx="3913632" cy="493776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 w="15875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3904487"/>
            <a:ext cx="3639312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  RFID Middleware &amp; Gate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4489704"/>
            <a:ext cx="3913632" cy="493776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 w="15875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4489704"/>
            <a:ext cx="3639312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  Inventory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5074920"/>
            <a:ext cx="3913632" cy="493776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 w="15875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5074920"/>
            <a:ext cx="3639312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  Notifications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5660136"/>
            <a:ext cx="3913632" cy="493776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 w="15875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5660136"/>
            <a:ext cx="3639312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7  Persistence Data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7498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High-Throughput Data Migration (D5)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8CAE4"/>
                </a:solidFill>
                <a:latin typeface="Calibri"/>
              </a:rPr>
              <a:t>Ingestion &amp; Reconciliation Engine (migrate.py)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AISYS RFID Library Management System  |  Technical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94960" cy="178308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39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8CAE4"/>
                </a:solidFill>
                <a:latin typeface="Calibri"/>
              </a:rPr>
              <a:t>Bulk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67128"/>
            <a:ext cx="4846320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31140" indent="-23114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CSV and XLSX input through Pandas</a:t>
            </a:r>
          </a:p>
          <a:p>
            <a:pPr algn="l" marL="231140" indent="-23114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Members and book copies with RFID tags</a:t>
            </a:r>
          </a:p>
          <a:p>
            <a:pPr algn="l" marL="231140" indent="-23114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20,000 rows imported in about 3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508760"/>
            <a:ext cx="5394960" cy="178308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691639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8CAE4"/>
                </a:solidFill>
                <a:latin typeface="Calibri"/>
              </a:rPr>
              <a:t>Schema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167128"/>
            <a:ext cx="4846320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31140" indent="-23114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Required columns, email, phone, ISBN, tag UID, year</a:t>
            </a:r>
          </a:p>
          <a:p>
            <a:pPr algn="l" marL="231140" indent="-23114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Duplicates checked in file, staging table and database</a:t>
            </a:r>
          </a:p>
          <a:p>
            <a:pPr algn="l" marL="231140" indent="-23114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Rejected rows written to error_log.csv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8999"/>
            <a:ext cx="5394960" cy="178308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611879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8CAE4"/>
                </a:solidFill>
                <a:latin typeface="Calibri"/>
              </a:rPr>
              <a:t>Transactional Rollback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087368"/>
            <a:ext cx="4846320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31140" indent="-23114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One transaction per batch</a:t>
            </a:r>
          </a:p>
          <a:p>
            <a:pPr algn="l" marL="231140" indent="-23114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--rollback reverts the whole batch if any row is rejected</a:t>
            </a:r>
          </a:p>
          <a:p>
            <a:pPr algn="l" marL="231140" indent="-23114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Unexpected errors always revert; existing records are never modified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428999"/>
            <a:ext cx="5394960" cy="178308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3611879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8CAE4"/>
                </a:solidFill>
                <a:latin typeface="Calibri"/>
              </a:rPr>
              <a:t>Reconciliation Logging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4087368"/>
            <a:ext cx="4846320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31140" indent="-23114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Total Read, Valid, Rejected, Inserted</a:t>
            </a:r>
          </a:p>
          <a:p>
            <a:pPr algn="l" marL="231140" indent="-23114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Automatic consistency check on the counts</a:t>
            </a:r>
          </a:p>
          <a:p>
            <a:pPr algn="l" marL="231140" indent="-23114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Every row's outcome kept in the staging 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22392"/>
            <a:ext cx="3566160" cy="52806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0B4D8"/>
                </a:solidFill>
                <a:latin typeface="Calibri"/>
              </a:rPr>
              <a:t>≈ 3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25312"/>
            <a:ext cx="3474720" cy="36484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20,000 rows imported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1396" y="534924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1396" y="5422392"/>
            <a:ext cx="3566160" cy="52806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0B4D8"/>
                </a:solidFill>
                <a:latin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7116" y="5925312"/>
            <a:ext cx="3474720" cy="36484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existing records modified (insert-only)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534924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4152" y="5422392"/>
            <a:ext cx="3566160" cy="52806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48CAE4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5925312"/>
            <a:ext cx="3474720" cy="36484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transaction per batch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3035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Circulation Logic &amp; Security Gate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AISYS RFID Library Management System  |  Technical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91672" cy="224028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8CAE4"/>
                </a:solidFill>
                <a:latin typeface="Calibri"/>
              </a:rPr>
              <a:t>Circulation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2194560"/>
            <a:ext cx="2532888" cy="132588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267712"/>
            <a:ext cx="2532888" cy="72923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0B4D8"/>
                </a:solidFill>
                <a:latin typeface="Calibri"/>
              </a:rPr>
              <a:t>5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90088"/>
            <a:ext cx="2441448" cy="50383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loan cap per member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2194560"/>
            <a:ext cx="2532888" cy="132588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267712"/>
            <a:ext cx="2532888" cy="72923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0B4D8"/>
                </a:solidFill>
                <a:latin typeface="Calibri"/>
              </a:rPr>
              <a:t>₹500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990088"/>
            <a:ext cx="2441448" cy="50383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fine limit at check-out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194560"/>
            <a:ext cx="2532888" cy="132588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2267712"/>
            <a:ext cx="2532888" cy="72923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48CAE4"/>
                </a:solidFill>
                <a:latin typeface="Calibri"/>
              </a:rPr>
              <a:t>Blocks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990088"/>
            <a:ext cx="2441448" cy="50383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member account blocking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3104" y="2194560"/>
            <a:ext cx="2532888" cy="132588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33104" y="2267712"/>
            <a:ext cx="2532888" cy="72923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48CAE4"/>
                </a:solidFill>
                <a:latin typeface="Calibri"/>
              </a:rPr>
              <a:t>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2990088"/>
            <a:ext cx="2441448" cy="50383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item protection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86200"/>
            <a:ext cx="11091672" cy="242316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02336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8CAE4"/>
                </a:solidFill>
                <a:latin typeface="Calibri"/>
              </a:rPr>
              <a:t>Exit Gate Security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526280"/>
            <a:ext cx="1783080" cy="685800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 w="15875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17830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Gate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526280"/>
            <a:ext cx="2743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48CAE4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4526280"/>
            <a:ext cx="1783080" cy="685800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 w="15875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4526280"/>
            <a:ext cx="17830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Security-bit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526280"/>
            <a:ext cx="2743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48CAE4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4526280"/>
            <a:ext cx="1783080" cy="685800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 w="15875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4526280"/>
            <a:ext cx="17830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Alarm + accession no.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526280"/>
            <a:ext cx="2743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48CAE4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4526280"/>
            <a:ext cx="1783080" cy="685800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 w="15875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4526280"/>
            <a:ext cx="17830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Mock CCTV capture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526280"/>
            <a:ext cx="2743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48CAE4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526280"/>
            <a:ext cx="1783080" cy="685800"/>
          </a:xfrm>
          <a:prstGeom prst="roundRect">
            <a:avLst>
              <a:gd name="adj" fmla="val 20000"/>
            </a:avLst>
          </a:prstGeom>
          <a:solidFill>
            <a:srgbClr val="0B132B"/>
          </a:solidFill>
          <a:ln w="15875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4526280"/>
            <a:ext cx="17830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Queued e-mail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5394960"/>
            <a:ext cx="1054303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31140" indent="-231140">
              <a:spcAft>
                <a:spcPts val="4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Real-time RFID tag monitoring at the exit gate</a:t>
            </a:r>
          </a:p>
          <a:p>
            <a:pPr algn="l" marL="231140" indent="-231140">
              <a:spcAft>
                <a:spcPts val="4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Unauthorized item detection: unissued or unknown tags fail secure</a:t>
            </a:r>
          </a:p>
          <a:p>
            <a:pPr algn="l" marL="231140" indent="-231140">
              <a:spcAft>
                <a:spcPts val="4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Mock CCTV snapshot reference attached to every alarm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3035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Protocol Adapters &amp; Handheld Inventory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AISYS RFID Library Management System  |  Technical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48006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91639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8CAE4"/>
                </a:solidFill>
                <a:latin typeface="Calibri"/>
              </a:rPr>
              <a:t>Handheld Shelf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4846320" cy="3749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64160" indent="-26416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Batch reconciliation of scanned tags against shelf records</a:t>
            </a:r>
          </a:p>
          <a:p>
            <a:pPr algn="l" marL="264160" indent="-26416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Flags missing and misplaced books</a:t>
            </a:r>
          </a:p>
          <a:p>
            <a:pPr algn="l" marL="264160" indent="-26416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Also reports items on loan but on the shelf, and unknown tags</a:t>
            </a:r>
          </a:p>
          <a:p>
            <a:pPr algn="l" marL="264160" indent="-26416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Duplicate reads are collapsed; the audit never alters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5852160"/>
            <a:ext cx="48463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D9DBF"/>
                </a:solidFill>
                <a:latin typeface="Calibri"/>
              </a:rPr>
              <a:t>Mocked handheld reader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508760"/>
            <a:ext cx="5394960" cy="48006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691639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8CAE4"/>
                </a:solidFill>
                <a:latin typeface="Calibri"/>
              </a:rPr>
              <a:t>Protocol Interoperability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286000"/>
            <a:ext cx="4846320" cy="3749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64160" indent="-26416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NCIP 2.0 adapter for inter-library workflows: CheckOutItem, CheckInItem, LookupItem</a:t>
            </a:r>
          </a:p>
          <a:p>
            <a:pPr algn="l" marL="264160" indent="-26416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SIP2 boundary for kiosk hardware: messages 11, 09 and 17</a:t>
            </a:r>
          </a:p>
          <a:p>
            <a:pPr algn="l" marL="264160" indent="-264160">
              <a:spcAft>
                <a:spcPts val="800"/>
              </a:spcAft>
              <a:buClr>
                <a:srgbClr val="48CAE4"/>
              </a:buClr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Both adapters call the same circulation rules as the 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5852160"/>
            <a:ext cx="48463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D9DBF"/>
                </a:solidFill>
                <a:latin typeface="Calibri"/>
              </a:rPr>
              <a:t>Simplified NCIP (JSON) and SIP2 mocks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7498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Interactive API Documentation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8CAE4"/>
                </a:solidFill>
                <a:latin typeface="Calibri"/>
              </a:rPr>
              <a:t>Live API Control (Swagger 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AISYS RFID Library Management System  |  Technical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66160" cy="324612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39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48CAE4"/>
                </a:solidFill>
                <a:latin typeface="Calibri"/>
              </a:rPr>
              <a:t>Interactive Swagger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3108960" cy="640080"/>
          </a:xfrm>
          <a:prstGeom prst="roundRect">
            <a:avLst>
              <a:gd name="adj" fmla="val 15000"/>
            </a:avLst>
          </a:prstGeom>
          <a:solidFill>
            <a:srgbClr val="0B132B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514600"/>
            <a:ext cx="30175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B4D8"/>
                </a:solidFill>
                <a:latin typeface="Consolas"/>
              </a:rPr>
              <a:t>http://127.0.0.1:8000/docs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Try every endpoint in the browser while the service runs locally.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1396" y="1508760"/>
            <a:ext cx="3566160" cy="324612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9996" y="1691639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48CAE4"/>
                </a:solidFill>
                <a:latin typeface="Calibri"/>
              </a:rPr>
              <a:t>Role-Based Endpoint Execution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39996" y="2514600"/>
            <a:ext cx="3108960" cy="640080"/>
          </a:xfrm>
          <a:prstGeom prst="roundRect">
            <a:avLst>
              <a:gd name="adj" fmla="val 15000"/>
            </a:avLst>
          </a:prstGeom>
          <a:solidFill>
            <a:srgbClr val="0B132B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5716" y="2514600"/>
            <a:ext cx="30175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B4D8"/>
                </a:solidFill>
                <a:latin typeface="Consolas"/>
              </a:rPr>
              <a:t>admin · librarian · patron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996" y="333756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Send the X-Role header to exercise protected endpoints; other callers receive 403.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508760"/>
            <a:ext cx="3566160" cy="324612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91639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48CAE4"/>
                </a:solidFill>
                <a:latin typeface="Calibri"/>
              </a:rPr>
              <a:t>Strict JSON Schemas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2514600"/>
            <a:ext cx="3108960" cy="640080"/>
          </a:xfrm>
          <a:prstGeom prst="roundRect">
            <a:avLst>
              <a:gd name="adj" fmla="val 15000"/>
            </a:avLst>
          </a:prstGeom>
          <a:solidFill>
            <a:srgbClr val="0B132B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514600"/>
            <a:ext cx="30175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B4D8"/>
                </a:solidFill>
                <a:latin typeface="Consolas"/>
              </a:rPr>
              <a:t>Pydantic request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33756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Malformed requests are rejected with clear validation errors.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59"/>
            <a:ext cx="11091672" cy="13716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8CAE4"/>
                </a:solidFill>
                <a:latin typeface="Calibri"/>
              </a:rPr>
              <a:t>Demo tip:  </a:t>
            </a:r>
            <a:r>
              <a:rPr sz="1400" b="0">
                <a:solidFill>
                  <a:srgbClr val="FFFFFF"/>
                </a:solidFill>
                <a:latin typeface="Calibri"/>
              </a:rPr>
              <a:t>start the service with uvicorn main:app --reload, open /docs, and add the header X-Role: admin to try member blocking and the alarm log.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48CAE4"/>
                </a:solidFill>
                <a:latin typeface="Calibri"/>
              </a:rPr>
              <a:t>Access rules:  </a:t>
            </a:r>
            <a:r>
              <a:rPr sz="1400" b="0">
                <a:solidFill>
                  <a:srgbClr val="FFFFFF"/>
                </a:solidFill>
                <a:latin typeface="Calibri"/>
              </a:rPr>
              <a:t>admin: block members, view alarms; admin or librarian: associate tags; all other callers: 403.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7498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Automated Verification &amp; Quality Assurance (D6)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8CAE4"/>
                </a:solidFill>
                <a:latin typeface="Calibri"/>
              </a:rPr>
              <a:t>Automated Acceptance Suite (test_acceptance.py)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AISYS RFID Library Management System  |  Technical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2633472" cy="128016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81912"/>
            <a:ext cx="2633472" cy="7040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00B4D8"/>
                </a:solidFill>
                <a:latin typeface="Calibri"/>
              </a:rP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76856"/>
            <a:ext cx="2542032" cy="4864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08760"/>
            <a:ext cx="2633472" cy="128016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81912"/>
            <a:ext cx="2633472" cy="7040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00B4D8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276856"/>
            <a:ext cx="2542032" cy="4864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Failed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08760"/>
            <a:ext cx="2633472" cy="128016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1581912"/>
            <a:ext cx="2633472" cy="7040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00B4D8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2276856"/>
            <a:ext cx="2542032" cy="4864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Pass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508760"/>
            <a:ext cx="2633472" cy="128016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9050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581912"/>
            <a:ext cx="2633472" cy="7040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48CAE4"/>
                </a:solidFill>
                <a:latin typeface="Calibri"/>
              </a:rPr>
              <a:t>~2.20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2276856"/>
            <a:ext cx="2542032" cy="4864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Execution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71800"/>
            <a:ext cx="11091672" cy="333756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0896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8CAE4"/>
                </a:solidFill>
                <a:latin typeface="Calibri"/>
              </a:rPr>
              <a:t>Test Scenario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03320"/>
            <a:ext cx="512064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31140" indent="-231140">
              <a:spcAft>
                <a:spcPts val="9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Spreadsheet import, validation, duplicates and reconciliation (AC 01)</a:t>
            </a:r>
          </a:p>
          <a:p>
            <a:pPr algn="l" marL="231140" indent="-231140">
              <a:spcAft>
                <a:spcPts val="9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RFID tag association and uniqueness (AC 02)</a:t>
            </a:r>
          </a:p>
          <a:p>
            <a:pPr algn="l" marL="231140" indent="-231140">
              <a:spcAft>
                <a:spcPts val="9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NCIP 2.0 and SIP2 check-out / check-in flows (AC 03)</a:t>
            </a:r>
          </a:p>
          <a:p>
            <a:pPr algn="l" marL="231140" indent="-231140">
              <a:spcAft>
                <a:spcPts val="9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Circulation blocking: reference, blocked member, fine limit (AC 04)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703320"/>
            <a:ext cx="512064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31140" indent="-231140">
              <a:spcAft>
                <a:spcPts val="9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Handheld inventory audit: missing, misplaced, unknown (AC 05)</a:t>
            </a:r>
          </a:p>
          <a:p>
            <a:pPr algn="l" marL="231140" indent="-231140">
              <a:spcAft>
                <a:spcPts val="9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Gate event, accession number, mock CCTV, queued e-mail (AC 06)</a:t>
            </a:r>
          </a:p>
          <a:p>
            <a:pPr algn="l" marL="231140" indent="-231140">
              <a:spcAft>
                <a:spcPts val="9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Role-based access control, 12 tests (AC 07)</a:t>
            </a:r>
          </a:p>
          <a:p>
            <a:pPr algn="l" marL="231140" indent="-231140">
              <a:spcAft>
                <a:spcPts val="900"/>
              </a:spcAft>
              <a:buClr>
                <a:srgbClr val="48CAE4"/>
              </a:buClr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Migration rollback and failure recovery (AC 10)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7498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Demo, Repository &amp; Project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8CAE4"/>
                </a:solidFill>
                <a:latin typeface="Calibri"/>
              </a:rPr>
              <a:t>Everything is Reproducible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AISYS RFID Library Management System  |  Technical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39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8CAE4"/>
                </a:solidFill>
                <a:latin typeface="Calibri"/>
              </a:rPr>
              <a:t>1 · 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2240280"/>
            <a:ext cx="4846320" cy="822960"/>
          </a:xfrm>
          <a:prstGeom prst="roundRect">
            <a:avLst>
              <a:gd name="adj" fmla="val 15000"/>
            </a:avLst>
          </a:prstGeom>
          <a:solidFill>
            <a:srgbClr val="0B132B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6634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B4D8"/>
                </a:solidFill>
                <a:latin typeface="Consolas"/>
              </a:rPr>
              <a:t>github.com/MouliPalluru/aisys_rfid_library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004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D9DBF"/>
                </a:solidFill>
                <a:latin typeface="Calibri"/>
              </a:rPr>
              <a:t>Source code, tests, runbook and project 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50876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691639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8CAE4"/>
                </a:solidFill>
                <a:latin typeface="Calibri"/>
              </a:rPr>
              <a:t>2 · Interactive API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2240280"/>
            <a:ext cx="4846320" cy="822960"/>
          </a:xfrm>
          <a:prstGeom prst="roundRect">
            <a:avLst>
              <a:gd name="adj" fmla="val 15000"/>
            </a:avLst>
          </a:prstGeom>
          <a:solidFill>
            <a:srgbClr val="0B132B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6634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B4D8"/>
                </a:solidFill>
                <a:latin typeface="Consolas"/>
              </a:rPr>
              <a:t>http://127.0.0.1:8000/docs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2004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D9DBF"/>
                </a:solidFill>
                <a:latin typeface="Calibri"/>
              </a:rPr>
              <a:t>Available while uvicorn main:app is running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0624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8CAE4"/>
                </a:solidFill>
                <a:latin typeface="Calibri"/>
              </a:rPr>
              <a:t>3 · Acceptance Test Command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" y="4754880"/>
            <a:ext cx="4846320" cy="822960"/>
          </a:xfrm>
          <a:prstGeom prst="roundRect">
            <a:avLst>
              <a:gd name="adj" fmla="val 15000"/>
            </a:avLst>
          </a:prstGeom>
          <a:solidFill>
            <a:srgbClr val="0B132B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46634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B4D8"/>
                </a:solidFill>
                <a:latin typeface="Consolas"/>
              </a:rPr>
              <a:t>pytest -v test_acceptance.py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7150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D9DBF"/>
                </a:solidFill>
                <a:latin typeface="Calibri"/>
              </a:rPr>
              <a:t>49 tests in 2.20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402336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420624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8CAE4"/>
                </a:solidFill>
                <a:latin typeface="Calibri"/>
              </a:rPr>
              <a:t>4 · Migration Command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9672" y="4754880"/>
            <a:ext cx="4846320" cy="822960"/>
          </a:xfrm>
          <a:prstGeom prst="roundRect">
            <a:avLst>
              <a:gd name="adj" fmla="val 15000"/>
            </a:avLst>
          </a:prstGeom>
          <a:solidFill>
            <a:srgbClr val="0B132B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754880"/>
            <a:ext cx="46634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B4D8"/>
                </a:solidFill>
                <a:latin typeface="Consolas"/>
              </a:rPr>
              <a:t>python migrate.py sample/members_sample.csv --entity members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57150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D9DBF"/>
                </a:solidFill>
                <a:latin typeface="Calibri"/>
              </a:rPr>
              <a:t>Create demo data first: python migrate.py --make-sample sample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7498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Production Readiness &amp; Architectural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8CAE4"/>
                </a:solidFill>
                <a:latin typeface="Calibri"/>
              </a:rPr>
              <a:t>Production Roadmap &amp; Next Engineering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AISYS RFID Library Management System  |  Technical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D9DBF"/>
                </a:solidFill>
                <a:latin typeface="Calibri"/>
              </a:rPr>
              <a:t>10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176479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5875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64792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B132B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91639"/>
            <a:ext cx="4114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48CAE4"/>
                </a:solidFill>
                <a:latin typeface="Calibri"/>
              </a:rPr>
              <a:t>PostgreSQL Database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06039"/>
            <a:ext cx="48463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Replace the in-memory API store and the SQLite migration target with one persistent PostgreSQL layer.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50876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19672" y="176479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5875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64792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B132B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1691639"/>
            <a:ext cx="4114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48CAE4"/>
                </a:solidFill>
                <a:latin typeface="Calibri"/>
              </a:rPr>
              <a:t>OAuth2 / JWT Authentication Hardening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606039"/>
            <a:ext cx="48463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Replace the header-based role check with verified identity, TLS and audit logging.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427939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5875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279392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B132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06240"/>
            <a:ext cx="4114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48CAE4"/>
                </a:solidFill>
                <a:latin typeface="Calibri"/>
              </a:rPr>
              <a:t>Web Admin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120640"/>
            <a:ext cx="48463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Statistics and filterable reports for items, members, circulation, operators and gate events.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402336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1C2541"/>
          </a:solidFill>
          <a:ln w="15875">
            <a:solidFill>
              <a:srgbClr val="3A4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19672" y="427939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5875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279392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B132B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4206240"/>
            <a:ext cx="4114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48CAE4"/>
                </a:solidFill>
                <a:latin typeface="Calibri"/>
              </a:rPr>
              <a:t>UAT Sign-off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5120640"/>
            <a:ext cx="48463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Library-staff acceptance testing and Windows 11 / Server 2022 validation of the install, update and rollback procedures.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